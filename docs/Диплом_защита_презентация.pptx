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screen16x9"/>
  <p:notesSz cx="6858000" cy="9144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</Relationships>
</file>

<file path=ppt/notesMasters/_rels/notesMaster1.xml.rels><?xml version="1.0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</p:notesMaster>
</file>

<file path=ppt/notesSlides/_rels/notesSlide1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Здравствуйте. Представляю дипломный проект — модуль AI-подбора туров для «Бон Вояж» / «Планета 360».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Почему тема важна для турфирмы в Благовещенске.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Цель — одним предложением, задачи по заданию.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Классический слайд защиты.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Назовите стек и основные файлы проекта.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Опишите поток данных словами.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Связь с бизнес-процессом организации.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Таблицы из database.py.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Ключевой слайд. Можно показать демо.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Демо: http://localhost:8000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Результаты в главе 3.4.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Цифры из главы 5.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Работающий прототип.</a:t>
            </a:r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30 секунд. Уверенный финал.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Вопросы комиссии.</a:t>
            </a:r>
          </a:p>
        </p:txBody>
      </p:sp>
    </p:spTree>
  </p:cSld>
</p:notes>
</file>

<file path=ppt/slideLayouts/_rels/slideLayout1.xml.rels><?xml version="1.0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</p:sldLayout>
</file>

<file path=ppt/slideMasters/_rels/slideMaster1.xml.rels><?xml version="1.0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</Relationships>
</file>

<file path=ppt/slides/_rels/slide2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.xml"/></Relationships>
</file>

<file path=ppt/slides/_rels/slide3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3.xml"/></Relationships>
</file>

<file path=ppt/slides/_rels/slide4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4.xml"/></Relationships>
</file>

<file path=ppt/slides/_rels/slide5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5.xml"/></Relationships>
</file>

<file path=ppt/slides/_rels/slide6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6.xml"/></Relationships>
</file>

<file path=ppt/slides/_rels/slide7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7.xml"/></Relationships>
</file>

<file path=ppt/slides/_rels/slide8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8.xml"/></Relationships>
</file>

<file path=ppt/slides/_rels/slide9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9.xml"/></Relationships>
</file>

<file path=ppt/slides/_rels/slide10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0.xml"/></Relationships>
</file>

<file path=ppt/slides/_rels/slide11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1.xml"/></Relationships>
</file>

<file path=ppt/slides/_rels/slide12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2.xml"/></Relationships>
</file>

<file path=ppt/slides/_rels/slide13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3.xml"/></Relationships>
</file>

<file path=ppt/slides/_rels/slide14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4.xml"/></Relationships>
</file>

<file path=ppt/slides/_rels/slide15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01773A"/>
            </a:gs>
            <a:gs pos="55000">
              <a:srgbClr val="028A46"/>
            </a:gs>
            <a:gs pos="100000">
              <a:srgbClr val="0D948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c1"/>
          <p:cNvSpPr/>
          <p:nvPr/>
        </p:nvSpPr>
        <p:spPr>
          <a:xfrm>
            <a:off x="9200000" y="-200000"/>
            <a:ext cx="3200000" cy="32000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1" name="c2"/>
          <p:cNvSpPr/>
          <p:nvPr/>
        </p:nvSpPr>
        <p:spPr>
          <a:xfrm>
            <a:off x="-400000" y="4600000"/>
            <a:ext cx="2200000" cy="2200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2" name="badge"/>
          <p:cNvSpPr/>
          <p:nvPr/>
        </p:nvSpPr>
        <p:spPr>
          <a:xfrm>
            <a:off x="2600000" y="300000"/>
            <a:ext cx="7000000" cy="400000"/>
          </a:xfrm>
          <a:prstGeom prst="roundRect">
            <a:avLst>
              <a:gd name="adj" fmla="val 12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3" name="badgeT"/>
          <p:cNvSpPr/>
          <p:nvPr/>
        </p:nvSpPr>
        <p:spPr>
          <a:xfrm>
            <a:off x="2600000" y="330000"/>
            <a:ext cx="7000000" cy="34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Дипломный проект  ·  09.02.07  ·  Бон Вояж</a:t>
            </a:r>
          </a:p>
        </p:txBody>
      </p:sp>
      <p:sp>
        <p:nvSpPr>
          <p:cNvPr id="14" name="logo"/>
          <p:cNvSpPr/>
          <p:nvPr/>
        </p:nvSpPr>
        <p:spPr>
          <a:xfrm>
            <a:off x="360000" y="150000"/>
            <a:ext cx="45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2" name="Title"/>
          <p:cNvSpPr/>
          <p:nvPr/>
        </p:nvSpPr>
        <p:spPr>
          <a:xfrm>
            <a:off x="700000" y="1850000"/>
            <a:ext cx="10800000" cy="220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 Light"/>
              </a:rPr>
              <a:t>Модуль динамической генерации турпакета</a:t>
            </a:r>
            <a:r>
              <a:rPr sz="2600" b="1">
                <a:solidFill>
                  <a:srgbClr val="FFFFFF"/>
                </a:solidFill>
                <a:latin typeface="Calibri Light"/>
              </a:rPr>
              <a:t>
                <a:br/>
                на основе методов искусственного интеллекта
              </a:t>
            </a:r>
          </a:p>
        </p:txBody>
      </p:sp>
      <p:sp>
        <p:nvSpPr>
          <p:cNvPr id="3" name="Body"/>
          <p:cNvSpPr/>
          <p:nvPr/>
        </p:nvSpPr>
        <p:spPr>
          <a:xfrm>
            <a:off x="1200000" y="4200000"/>
            <a:ext cx="9800000" cy="190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Студент: ФИО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Группа: ______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Специальность: 09.02.07 Информационные системы и программирование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Руководитель: ФИО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ГБПОУ «Амурский технический колледж»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 / 15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Актуальность темы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Клиенты турфирм ожидают быстрый онлайн-подбор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Свободный текст удобнее форм и фильтров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LLM понимают запрос на русском языке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Автоматизация работает 24/7 без выходных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ПРОБЛЕМА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Менеджер не всегда может ответить сразу — клиент уходит к конкурентам.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РЕШЕНИЕ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Модуль принимает запрос в свободной форме: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«Хочу в Китай с 10 по 20 июля, бюджет 80 000 руб.»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ВЫГОДА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Снижение нагрузки на сотрудников, рост числа заявок.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 / 15</a:t>
            </a:r>
          </a:p>
        </p:txBody>
      </p:sp>
      <p:sp>
        <p:nvSpPr>
          <p:cNvPr id="15" name="card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cardB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60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Цель и задачи проекта</a:t>
            </a:r>
          </a:p>
        </p:txBody>
      </p:sp>
      <p:sp>
        <p:nvSpPr>
          <p:cNvPr id="3" name="Body"/>
          <p:cNvSpPr/>
          <p:nvPr/>
        </p:nvSpPr>
        <p:spPr>
          <a:xfrm>
            <a:off x="680000" y="1200000"/>
            <a:ext cx="104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360000" indent="-180000" spcAft="700">
              <a:buAutoNum type="arabicPeriod" startAt="1"/>
            </a:pPr>
            <a:r>
              <a:rPr sz="1620">
                <a:solidFill>
                  <a:srgbClr val="1E293B"/>
                </a:solidFill>
                <a:latin typeface="Calibri"/>
              </a:rPr>
              <a:t>Цель: разработать модуль генерации турпакета на основе ИИ</a:t>
            </a:r>
          </a:p>
          <a:p>
            <a:pPr marL="360000" indent="-180000" spcAft="700">
              <a:buAutoNum type="arabicPeriod" startAt="2"/>
            </a:pPr>
            <a:r>
              <a:rPr sz="1620">
                <a:solidFill>
                  <a:srgbClr val="1E293B"/>
                </a:solidFill>
                <a:latin typeface="Calibri"/>
              </a:rPr>
              <a:t>Изучить применение LLM в туризме</a:t>
            </a:r>
          </a:p>
          <a:p>
            <a:pPr marL="360000" indent="-180000" spcAft="700">
              <a:buAutoNum type="arabicPeriod" startAt="3"/>
            </a:pPr>
            <a:r>
              <a:rPr sz="1620">
                <a:solidFill>
                  <a:srgbClr val="1E293B"/>
                </a:solidFill>
                <a:latin typeface="Calibri"/>
              </a:rPr>
              <a:t>Спроектировать архитектуру, БД и AI-агента</a:t>
            </a:r>
          </a:p>
          <a:p>
            <a:pPr marL="360000" indent="-180000" spcAft="700">
              <a:buAutoNum type="arabicPeriod" startAt="4"/>
            </a:pPr>
            <a:r>
              <a:rPr sz="1620">
                <a:solidFill>
                  <a:srgbClr val="1E293B"/>
                </a:solidFill>
                <a:latin typeface="Calibri"/>
              </a:rPr>
              <a:t>Реализовать интерфейс, сервер и парсер</a:t>
            </a:r>
          </a:p>
          <a:p>
            <a:pPr marL="360000" indent="-180000" spcAft="700">
              <a:buAutoNum type="arabicPeriod" startAt="5"/>
            </a:pPr>
            <a:r>
              <a:rPr sz="1620">
                <a:solidFill>
                  <a:srgbClr val="1E293B"/>
                </a:solidFill>
                <a:latin typeface="Calibri"/>
              </a:rPr>
              <a:t>Интегрировать DeepSeek и GigaChat</a:t>
            </a:r>
          </a:p>
          <a:p>
            <a:pPr marL="360000" indent="-180000" spcAft="700">
              <a:buAutoNum type="arabicPeriod" startAt="6"/>
            </a:pPr>
            <a:r>
              <a:rPr sz="1620">
                <a:solidFill>
                  <a:srgbClr val="1E293B"/>
                </a:solidFill>
                <a:latin typeface="Calibri"/>
              </a:rPr>
              <a:t>Провести тестирование и экономическое обоснование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4 / 15</a:t>
            </a:r>
          </a:p>
        </p:txBody>
      </p:sp>
      <p:sp>
        <p:nvSpPr>
          <p:cNvPr id="15" name="card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cardB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60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Объект и предмет исследования</a:t>
            </a:r>
          </a:p>
        </p:txBody>
      </p:sp>
      <p:sp>
        <p:nvSpPr>
          <p:cNvPr id="3" name="Body"/>
          <p:cNvSpPr/>
          <p:nvPr/>
        </p:nvSpPr>
        <p:spPr>
          <a:xfrm>
            <a:off x="680000" y="1200000"/>
            <a:ext cx="104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Объект: процесс подбора турпакета в турфирме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Предмет: методы применения ИИ для генерации турпакета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База практики: ООО «Бон Вояж», bon-voyage28.ru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Результат: модуль для сайта «Планета 360»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5 / 15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Средства разработки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Python 3.11 — основной язык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FastAPI + Uvicorn — сервер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Vue.js — клиентский интерфейс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MySQL 8.0 — база данных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DeepSeek API, GigaChat — LLM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BeautifulSoup — парсер каталога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СТЕК ТЕХНОЛОГИЙ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Backend:  app.py, ai_service.py, config.py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Frontend: frontend/index.html (Vue SPA)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Парсер:   parser.py → таблица hotels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Конфиг:   .env + requirements.txt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Запуск:   python run_server.py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Адрес:    http://localhost:8000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6 / 15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Архитектура системы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Клиент-серверная архитектура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Три уровня: клиент → сервер → данные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Два провайдера ИИ с fallback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КЛИЕНТ (Vue.js)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Чат-интерфейс, выбор LLM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Карточка готового турпакета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Форма заявки менеджеру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СЕРВЕР (FastAPI)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POST /api/chat — основной эндпоинт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ai_service.py — логика AI-агента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date_validation.py — проверка дат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ДАННЫЕ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MySQL — каталог, сессии, заявки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GigaChat / DeepSeek — нейросети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ПОТОК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Запрос → LLM → параметры → БД → турпакет → ответ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7 / 15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Бизнес-процесс (IDEF0)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Деятельность турфирмы «Бон Вояж»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5 этапов: A1 → A2 → A3 → A4 → A5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Модуль автоматизирует этап A1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A1 — Планирование поездки</a:t>
            </a:r>
          </a:p>
          <a:p>
            <a:pPr algn="l" spcAft="80"/>
            <a:r>
              <a:rPr sz="1400">
                <a:solidFill>
                  <a:srgbClr val="64748B"/>
                </a:solidFill>
                <a:latin typeface="Calibri"/>
              </a:rPr>
              <a:t>Первичный подбор направления и тура</a:t>
            </a:r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   ← МОДУЛЬ АВТОМАТИЗИРУЕТ ЭТОТ ЭТАП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A2 — Формирование группы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A3 — Организация логистики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A4 — Сопровождение туристов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A5 — Отчётность и анализ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Вход: запрос клиента на сайте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Выход: готовый турпакет + заявка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8 / 15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База данных MySQL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6 таблиц в единой схеме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Каталог, сессии, история, заявки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Состояние диалога хранится в JSON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hotels</a:t>
            </a:r>
          </a:p>
          <a:p>
            <a:pPr algn="l" spcAft="80"/>
            <a:r>
              <a:rPr sz="1400">
                <a:solidFill>
                  <a:srgbClr val="64748B"/>
                </a:solidFill>
                <a:latin typeface="Calibri"/>
              </a:rPr>
              <a:t>Каталог туров (парсер bon-voyage28.ru)</a:t>
            </a:r>
          </a:p>
          <a:p>
            <a:pPr algn="l" spcAft="80"/>
            <a:r>
              <a:rPr sz="1400">
                <a:solidFill>
                  <a:srgbClr val="64748B"/>
                </a:solidFill>
                <a:latin typeface="Calibri"/>
              </a:rPr>
              <a:t>name, country, price, dates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user_sessions</a:t>
            </a:r>
          </a:p>
          <a:p>
            <a:pPr algn="l" spcAft="80"/>
            <a:r>
              <a:rPr sz="1400">
                <a:solidFill>
                  <a:srgbClr val="64748B"/>
                </a:solidFill>
                <a:latin typeface="Calibri"/>
              </a:rPr>
              <a:t>session_id, state (JSON), updated_at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user_queries / generated_tours</a:t>
            </a:r>
          </a:p>
          <a:p>
            <a:pPr algn="l" spcAft="80"/>
            <a:r>
              <a:rPr sz="1400">
                <a:solidFill>
                  <a:srgbClr val="64748B"/>
                </a:solidFill>
                <a:latin typeface="Calibri"/>
              </a:rPr>
              <a:t>История сообщений и турпакетов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agency_leads / daily_stats</a:t>
            </a:r>
          </a:p>
          <a:p>
            <a:pPr algn="l" spcAft="80"/>
            <a:r>
              <a:rPr sz="1400">
                <a:solidFill>
                  <a:srgbClr val="64748B"/>
                </a:solidFill>
                <a:latin typeface="Calibri"/>
              </a:rPr>
              <a:t>Заявки клиентов и статистика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9 / 15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Алгоритм AI-агента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Двухфазный алгоритм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Серверная валидация параметров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Отказоустойчивость при сбое LLM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1. Старт — POST /api/chat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2. Фаза 1 — диалог LLM:</a:t>
            </a:r>
          </a:p>
          <a:p>
            <a:pPr algn="l" spcAft="80"/>
            <a:r>
              <a:rPr sz="1400">
                <a:solidFill>
                  <a:srgbClr val="64748B"/>
                </a:solidFill>
                <a:latin typeface="Calibri"/>
              </a:rPr>
              <a:t>сбор направления, дат, бюджета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3. Валидация — date_validation.py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4. Поиск — SELECT из таблицы hotels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5. Фаза 2 — LLM формирует турпакет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6. Fallback — GigaChat → DeepSeek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7. Ответ — карточка тура в чате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Режим auto: сначала GigaChat,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при ошибке — автоматически DeepSeek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10 / 15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Клиентский интерфейс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Веб-чат на Vue.js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Свободный ввод на русском языке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Карточка тура и форма заявки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ШАПКА САЙТА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Логотип «Планета 360»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Навигация, телефон турфирмы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МОДУЛЬ «AI Тур-Генератор»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Выбор нейросети: Auto / GigaChat / DeepSeek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Поле ввода: «Хочу в Китай…»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Кнопки: Отправить, Сброс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КАРТОЧКА ТУРА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Отель, перелёт, даты, цена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Кнопки: «Купить» / «Страница турфирмы»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ЗАЯВКА: имя, телефон, email → менеджеру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11 / 15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Тестирование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Модульное, интеграционное, функциональное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Все сценарии пройдены успешно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МОДУЛЬНОЕ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test_dates.py — валидация дат поездки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ИНТЕГРАЦИОННОЕ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test_deepseek.py — API DeepSeek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test_gigachat.py — API GigaChat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ФУНКЦИОНАЛЬНОЕ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Полный диалог → турпакет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Fallback при сбое GigaChat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Сброс сессии (POST /api/reset)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Сохранение заявки в agency_leads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12 / 15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Экономическое обоснование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Затраты на разработку: 107 720 руб.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Эксплуатация: 47 100 руб./год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Чистый эффект: 711 300 руб./год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ЗАТРАТЫ НА РАЗРАБОТКУ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200 ч × 500 руб./ч = 100 000 руб.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Материалы и хостинг = 7 720 руб.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Итого: 107 720 руб.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ЭФФЕКТ В ГОД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Экономия времени менеджеров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Дополнительные заявки с сайта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Чистый эффект: 711 300 руб./год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Окупаемость: ~2 месяца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Коэффициент эффективности Kэф = 6,6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13 / 15</a:t>
            </a:r>
          </a:p>
        </p:txBody>
      </p:sp>
      <p:sp>
        <p:nvSpPr>
          <p:cNvPr id="15" name="card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cardB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60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Результаты работы</a:t>
            </a:r>
          </a:p>
        </p:txBody>
      </p:sp>
      <p:sp>
        <p:nvSpPr>
          <p:cNvPr id="3" name="Body"/>
          <p:cNvSpPr/>
          <p:nvPr/>
        </p:nvSpPr>
        <p:spPr>
          <a:xfrm>
            <a:off x="680000" y="1200000"/>
            <a:ext cx="104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Разработан модуль «AI Тур-Генератор»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Диалог на русском, реальный каталог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Двухпровайдерная схема ИИ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Готов к внедрению на bon-voyage28.ru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14 / 15</a:t>
            </a:r>
          </a:p>
        </p:txBody>
      </p:sp>
      <p:sp>
        <p:nvSpPr>
          <p:cNvPr id="15" name="card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cardB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60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Выводы</a:t>
            </a:r>
          </a:p>
        </p:txBody>
      </p:sp>
      <p:sp>
        <p:nvSpPr>
          <p:cNvPr id="3" name="Body"/>
          <p:cNvSpPr/>
          <p:nvPr/>
        </p:nvSpPr>
        <p:spPr>
          <a:xfrm>
            <a:off x="680000" y="1200000"/>
            <a:ext cx="104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Цель дипломного проекта достигнута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Все задачи выполнены в полном объёме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Модуль снижает нагрузку на менеджеров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Экономическая эффективность подтверждена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rotWithShape="1">
          <a:gsLst>
            <a:gs pos="0">
              <a:srgbClr val="01773A"/>
            </a:gs>
            <a:gs pos="55000">
              <a:srgbClr val="028A46"/>
            </a:gs>
            <a:gs pos="100000">
              <a:srgbClr val="0D948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c1"/>
          <p:cNvSpPr/>
          <p:nvPr/>
        </p:nvSpPr>
        <p:spPr>
          <a:xfrm>
            <a:off x="9200000" y="-200000"/>
            <a:ext cx="3200000" cy="32000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1" name="c2"/>
          <p:cNvSpPr/>
          <p:nvPr/>
        </p:nvSpPr>
        <p:spPr>
          <a:xfrm>
            <a:off x="-400000" y="4600000"/>
            <a:ext cx="2200000" cy="2200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2" name="badge"/>
          <p:cNvSpPr/>
          <p:nvPr/>
        </p:nvSpPr>
        <p:spPr>
          <a:xfrm>
            <a:off x="2600000" y="300000"/>
            <a:ext cx="7000000" cy="400000"/>
          </a:xfrm>
          <a:prstGeom prst="roundRect">
            <a:avLst>
              <a:gd name="adj" fmla="val 12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3" name="badgeT"/>
          <p:cNvSpPr/>
          <p:nvPr/>
        </p:nvSpPr>
        <p:spPr>
          <a:xfrm>
            <a:off x="2600000" y="330000"/>
            <a:ext cx="7000000" cy="34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Дипломный проект  ·  09.02.07  ·  Бон Вояж</a:t>
            </a:r>
          </a:p>
        </p:txBody>
      </p:sp>
      <p:sp>
        <p:nvSpPr>
          <p:cNvPr id="14" name="logo"/>
          <p:cNvSpPr/>
          <p:nvPr/>
        </p:nvSpPr>
        <p:spPr>
          <a:xfrm>
            <a:off x="360000" y="150000"/>
            <a:ext cx="45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2" name="Title"/>
          <p:cNvSpPr/>
          <p:nvPr/>
        </p:nvSpPr>
        <p:spPr>
          <a:xfrm>
            <a:off x="700000" y="1850000"/>
            <a:ext cx="10800000" cy="220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 Light"/>
              </a:rPr>
              <a:t>Спасибо за внимание!</a:t>
            </a:r>
          </a:p>
        </p:txBody>
      </p:sp>
      <p:sp>
        <p:nvSpPr>
          <p:cNvPr id="3" name="Body"/>
          <p:cNvSpPr/>
          <p:nvPr/>
        </p:nvSpPr>
        <p:spPr>
          <a:xfrm>
            <a:off x="1200000" y="4200000"/>
            <a:ext cx="9800000" cy="190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Готов ответить на ваши вопросы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Демонстрация: http://localhost:8000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Турфирма «Бон Вояж»: +7 (4162) 317-771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nVoyage">
  <a:themeElements>
    <a:clrScheme name="BV">
      <a:dk1>
        <a:sysClr val="windowText" lastClr="000000"/>
      </a:dk1>
      <a:lt1>
        <a:sysClr val="window" lastClr="FFFFFF"/>
      </a:lt1>
      <a:dk2>
        <a:srgbClr val="1E293B"/>
      </a:dk2>
      <a:lt2>
        <a:srgbClr val="F0FDF4"/>
      </a:lt2>
      <a:accent1>
        <a:srgbClr val="01773A"/>
      </a:accent1>
      <a:accent2>
        <a:srgbClr val="0D9488"/>
      </a:accent2>
      <a:accent3>
        <a:srgbClr val="028A46"/>
      </a:accent3>
      <a:accent4>
        <a:srgbClr val="64748B"/>
      </a:accent4>
      <a:accent5>
        <a:srgbClr val="BBF7D0"/>
      </a:accent5>
      <a:accent6>
        <a:srgbClr val="1E293B"/>
      </a:accent6>
      <a:hlink>
        <a:srgbClr val="01773A"/>
      </a:hlink>
      <a:folHlink>
        <a:srgbClr val="64748B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