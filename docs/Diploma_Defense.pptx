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</Relationships>
</file>

<file path=ppt/notesMasters/_rels/notesMaster1.xml.rels><?xml version="1.0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</p:notesMaster>
</file>

<file path=ppt/notesSlides/_rels/notesSlide1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Здравствуйте, уважаемые члены комиссии. Представляю ВКР — систему «AI Тур-Генератор» для ООО «Бон Вояж» (сайт Планета 360 / bon-voyage28.ru).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Классический подбор тура медленный. ИИ позволяет принять запрос в свободной форме и быстро сформировать турпакет из каталога турфирмы.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Цель — одним предложением. Задачи — по введению диплома.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Обоснование собственной разработки: нужны естественный язык, уточняющие вопросы и данные именно «Бон Вояж».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Объект — процесс, предмет — методы и алгоритмы с применением больших языковых моделей.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Клиент-серверная архитектура. Связка двух LLM даёт отказоустойчивость и соответствие 152-ФЗ (GigaChat).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ER-диаграмма из диплома. hotels — каталог туров (парсер), user_sessions — состояние диалога в JSON, generated_tours — готовые турпакеты.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Можно показать демо: http://localhost:8000. Пример запроса: «Хочу в Китай с 10 по 20 июля, бюджет 80 000 руб.»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Асинхронная обработка: сервер не блокируется на время ответа нейросети (2–10 сек).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Цифры из главы 5 диплома. При ~20 обращениях в день модуль окупается за 3–4 месяца.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Практическая значимость: снижение нагрузки на менеджеров, круглосуточный приём заявок, ускорение подбора тура.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"/>
          <p:cNvSpPr/>
          <p:nvPr/>
        </p:nvSpPr>
        <p:spPr>
          <a:xfrm>
            <a:off x="685800" y="434340"/>
            <a:ext cx="5486400" cy="4114800"/>
          </a:xfrm>
        </p:spPr>
        <p:txBody>
          <a:bodyPr/>
          <a:lstStyle/>
          <a:p>
            <a:pPr algn="l"/>
            <a:r>
              <a:rPr sz="1800">
                <a:solidFill>
                  <a:srgbClr val="1E293B"/>
                </a:solidFill>
                <a:latin typeface="Calibri"/>
              </a:rPr>
              <a:t>Спасибо. Готов ответить на вопросы и показать работу модуля.</a:t>
            </a:r>
          </a:p>
        </p:txBody>
      </p:sp>
    </p:spTree>
  </p:cSld>
</p:notes>
</file>

<file path=ppt/slideLayouts/_rels/slideLayout1.xml.rels><?xml version="1.0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</p:sldLayout>
</file>

<file path=ppt/slideMasters/_rels/slideMaster1.xml.rels><?xml version="1.0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</Relationships>
</file>

<file path=ppt/slides/_rels/slide2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.xml"/></Relationships>
</file>

<file path=ppt/slides/_rels/slide3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3.xml"/></Relationships>
</file>

<file path=ppt/slides/_rels/slide4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4.xml"/></Relationships>
</file>

<file path=ppt/slides/_rels/slide5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5.xml"/></Relationships>
</file>

<file path=ppt/slides/_rels/slide6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6.xml"/></Relationships>
</file>

<file path=ppt/slides/_rels/slide7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7.xml"/>
<Relationship Id="rId3" Type="http://schemas.openxmlformats.org/officeDocument/2006/relationships/image" Target="../media/image7.png"/></Relationships>
</file>

<file path=ppt/slides/_rels/slide8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8.xml"/></Relationships>
</file>

<file path=ppt/slides/_rels/slide9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9.xml"/></Relationships>
</file>

<file path=ppt/slides/_rels/slide10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0.xml"/></Relationships>
</file>

<file path=ppt/slides/_rels/slide11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1.xml"/></Relationships>
</file>

<file path=ppt/slides/_rels/slide12.xml.rels><?xml version="1.0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rgbClr val="01773A"/>
            </a:gs>
            <a:gs pos="55000">
              <a:srgbClr val="028A46"/>
            </a:gs>
            <a:gs pos="100000">
              <a:srgbClr val="0D948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c1"/>
          <p:cNvSpPr/>
          <p:nvPr/>
        </p:nvSpPr>
        <p:spPr>
          <a:xfrm>
            <a:off x="9200000" y="-200000"/>
            <a:ext cx="3200000" cy="32000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1" name="c2"/>
          <p:cNvSpPr/>
          <p:nvPr/>
        </p:nvSpPr>
        <p:spPr>
          <a:xfrm>
            <a:off x="-400000" y="4600000"/>
            <a:ext cx="2200000" cy="2200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2" name="badge"/>
          <p:cNvSpPr/>
          <p:nvPr/>
        </p:nvSpPr>
        <p:spPr>
          <a:xfrm>
            <a:off x="2600000" y="300000"/>
            <a:ext cx="7000000" cy="400000"/>
          </a:xfrm>
          <a:prstGeom prst="roundRect">
            <a:avLst>
              <a:gd name="adj" fmla="val 12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3" name="badgeT"/>
          <p:cNvSpPr/>
          <p:nvPr/>
        </p:nvSpPr>
        <p:spPr>
          <a:xfrm>
            <a:off x="2600000" y="330000"/>
            <a:ext cx="7000000" cy="3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Дипломный проект  ·  09.02.07  ·  Бон Вояж</a:t>
            </a:r>
          </a:p>
        </p:txBody>
      </p:sp>
      <p:sp>
        <p:nvSpPr>
          <p:cNvPr id="14" name="logo"/>
          <p:cNvSpPr/>
          <p:nvPr/>
        </p:nvSpPr>
        <p:spPr>
          <a:xfrm>
            <a:off x="360000" y="150000"/>
            <a:ext cx="45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2" name="Title"/>
          <p:cNvSpPr/>
          <p:nvPr/>
        </p:nvSpPr>
        <p:spPr>
          <a:xfrm>
            <a:off x="700000" y="1850000"/>
            <a:ext cx="10800000" cy="22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 Light"/>
              </a:rPr>
              <a:t>Проектирование и разработка системы</a:t>
            </a:r>
            <a:r>
              <a:rPr sz="2600" b="1">
                <a:solidFill>
                  <a:srgbClr val="FFFFFF"/>
                </a:solidFill>
                <a:latin typeface="Calibri Light"/>
              </a:rPr>
              <a:t>
                <a:br/>
                динамической сборки турпакетов
              </a:t>
            </a:r>
            <a:r>
              <a:rPr sz="2600" b="1">
                <a:solidFill>
                  <a:srgbClr val="FFFFFF"/>
                </a:solidFill>
                <a:latin typeface="Calibri Light"/>
              </a:rPr>
              <a:t>
                <a:br/>
                на основе методов искусственного интеллекта
              </a:t>
            </a:r>
          </a:p>
        </p:txBody>
      </p:sp>
      <p:sp>
        <p:nvSpPr>
          <p:cNvPr id="3" name="Body"/>
          <p:cNvSpPr/>
          <p:nvPr/>
        </p:nvSpPr>
        <p:spPr>
          <a:xfrm>
            <a:off x="1200000" y="4200000"/>
            <a:ext cx="9800000" cy="19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Студент: Ю.В. Тымченко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Специальность: 09.02.07 — Информатика, программирование и эксплуатация БАС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База практики: ООО «Бон Вояж»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Руководитель: Д.П. Бардин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ГБПОУ «Благовещенский политехнический колледж»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2 / 12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Актуальность темы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Рост спроса на персонализированные туры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Клиенты тратят часы на поиск на сайтах операторов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Менеджеры обрабатывают однотипные запросы вручную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LLM автоматизируют извлечение параметров из текста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Модуль работает на сайте 24/7 без выходных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3 / 12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Цель и задачи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360000" indent="-180000" spcAft="700">
              <a:buAutoNum type="arabicPeriod" startAt="1"/>
            </a:pPr>
            <a:r>
              <a:rPr sz="1620">
                <a:solidFill>
                  <a:srgbClr val="1E293B"/>
                </a:solidFill>
                <a:latin typeface="Calibri"/>
              </a:rPr>
              <a:t>Цель: разработать и внедрить систему генерации турпакета на основе ИИ</a:t>
            </a:r>
          </a:p>
          <a:p>
            <a:pPr marL="360000" indent="-180000" spcAft="700">
              <a:buAutoNum type="arabicPeriod" startAt="2"/>
            </a:pPr>
            <a:r>
              <a:rPr sz="1620">
                <a:solidFill>
                  <a:srgbClr val="1E293B"/>
                </a:solidFill>
                <a:latin typeface="Calibri"/>
              </a:rPr>
              <a:t>Анализ деятельности туроператора и процесса подбора туров</a:t>
            </a:r>
          </a:p>
          <a:p>
            <a:pPr marL="360000" indent="-180000" spcAft="700">
              <a:buAutoNum type="arabicPeriod" startAt="3"/>
            </a:pPr>
            <a:r>
              <a:rPr sz="1620">
                <a:solidFill>
                  <a:srgbClr val="1E293B"/>
                </a:solidFill>
                <a:latin typeface="Calibri"/>
              </a:rPr>
              <a:t>Сравнительный анализ аналогов и выбор технологий</a:t>
            </a:r>
          </a:p>
          <a:p>
            <a:pPr marL="360000" indent="-180000" spcAft="700">
              <a:buAutoNum type="arabicPeriod" startAt="4"/>
            </a:pPr>
            <a:r>
              <a:rPr sz="1620">
                <a:solidFill>
                  <a:srgbClr val="1E293B"/>
                </a:solidFill>
                <a:latin typeface="Calibri"/>
              </a:rPr>
              <a:t>Проектирование архитектуры модуля и структуры БД</a:t>
            </a:r>
          </a:p>
          <a:p>
            <a:pPr marL="360000" indent="-180000" spcAft="700">
              <a:buAutoNum type="arabicPeriod" startAt="5"/>
            </a:pPr>
            <a:r>
              <a:rPr sz="1620">
                <a:solidFill>
                  <a:srgbClr val="1E293B"/>
                </a:solidFill>
                <a:latin typeface="Calibri"/>
              </a:rPr>
              <a:t>Реализация парсера, бэкенда FastAPI и фронтенда Vue.js</a:t>
            </a:r>
          </a:p>
          <a:p>
            <a:pPr marL="360000" indent="-180000" spcAft="700">
              <a:buAutoNum type="arabicPeriod" startAt="6"/>
            </a:pPr>
            <a:r>
              <a:rPr sz="1620">
                <a:solidFill>
                  <a:srgbClr val="1E293B"/>
                </a:solidFill>
                <a:latin typeface="Calibri"/>
              </a:rPr>
              <a:t>Интеграция LLM, тестирование и экономическое обоснование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4 / 12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Сравнение аналогов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Travelpayouts, Tutu.ru, Яндекс.Путешествия — только формы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CRM (1С: Турагентство) — учёт, но без ИИ и диалога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Готовые чат-боты — чужой каталог, нет привязки к «Бон Вояж»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Ни один аналог не сочетает все три функции сразу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КРИТЕРИИ СРАВНЕНИЯ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Ввод запроса (форма / свободный текст)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Диалог для уточнения параметров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Работа с каталогом конкретной турфирмы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ПОИСКОВИКИ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Большая база, актуальные цены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Нет NLP и диалога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НАШ МОДУЛЬ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NLP + диалог + свой каталог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Интеграция в bon-voyage28.ru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5 / 12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Объект и предмет исследования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Объект: процесс подбора туристических пакетов в деятельности туроператора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Предмет: методы сбора данных и обработки с LLM для генерации турпакетов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Практическая база: ООО «Бон Вояж», г. Благовещенск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Результат: модуль «AI Тур-Генератор» для сайта Планета 360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6 / 12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Средства разработки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Python 3.11, FastAPI, Uvicorn — серверная часть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Vue.js 3 — клиентский интерфейс (чат)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MySQL 8.0 — хранение каталога и сессий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DeepSeek API + GigaChat — языковые модели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BeautifulSoup + requests — парсинг bon-voyage28.ru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Travelpayouts / Amadeus — данные о перелётах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7 / 12</a:t>
            </a:r>
          </a:p>
        </p:txBody>
      </p:sp>
      <p:sp>
        <p:nvSpPr>
          <p:cNvPr id="15" name="imgBg"/>
          <p:cNvSpPr/>
          <p:nvPr/>
        </p:nvSpPr>
        <p:spPr>
          <a:xfrm>
            <a:off x="360000" y="1080000"/>
            <a:ext cx="11400000" cy="5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16" name="imgBd"/>
          <p:cNvSpPr/>
          <p:nvPr/>
        </p:nvSpPr>
        <p:spPr>
          <a:xfrm>
            <a:off x="360000" y="1080000"/>
            <a:ext cx="11400000" cy="515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База данных MySQL</a:t>
            </a:r>
          </a:p>
        </p:txBody>
      </p:sp>
      <p:pic>
        <p:nvPicPr>
          <p:cNvPr id="22" name="ER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00" y="1180000"/>
            <a:ext cx="11300000" cy="4900000"/>
          </a:xfrm>
          <a:prstGeom prst="rect">
            <a:avLst/>
          </a:prstGeom>
        </p:spPr>
      </p:pic>
      <p:sp>
        <p:nvSpPr>
          <p:cNvPr id="3" name="Caption"/>
          <p:cNvSpPr/>
          <p:nvPr/>
        </p:nvSpPr>
        <p:spPr>
          <a:xfrm>
            <a:off x="560000" y="6100000"/>
            <a:ext cx="11000000" cy="2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1300">
                <a:solidFill>
                  <a:srgbClr val="64748B"/>
                </a:solidFill>
                <a:latin typeface="Calibri"/>
              </a:rPr>
              <a:t>7 таблиц: hotels, flights, user_sessions, user_queries, generated_tours, agency_leads, daily_stats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8 / 12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Интерфейс (фронтенд)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Одностраничное приложение на Vue.js (frontend/index.html)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Чат: свободный ввод запроса на русском языке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Выбор нейросети: Auto / GigaChat / DeepSeek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Карточка тура: отель, перелёт, цена, рекомендация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Кнопки «Купить самостоятельно» и «Обратиться в турфирму»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Форма заявки: имя, телефон, email → менеджеру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9 / 12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Серверная часть (бэкенд)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FastAPI — центральный компонент (backend/app.py)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POST /api/chat — приём сообщений и генерация тура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ai_service.py — диалог LLM и сбор параметров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database.py — SQL-запросы к MySQL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date_validation.py, dialog_hints.py — серверная валидация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Fallback: GigaChat → DeepSeek при сбое провайдера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АЛГОРИТМ /api/chat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1. Создание/загрузка сессии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2. LLM извлекает направление, даты, бюджет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3. Поиск тура в таблице hotels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4. LLM формирует турпакет + перелёт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5. Ответ клиенту в JSON</a:t>
            </a:r>
          </a:p>
          <a:p>
            <a:pPr spcAft="200"/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Дополнительно: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POST /api/reset — сброс диалога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POST /api/lead — заявка менеджеру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GET /admin/stats — статистика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10 / 12</a:t>
            </a:r>
          </a:p>
        </p:txBody>
      </p:sp>
      <p:sp>
        <p:nvSpPr>
          <p:cNvPr id="15" name="leftC"/>
          <p:cNvSpPr/>
          <p:nvPr/>
        </p:nvSpPr>
        <p:spPr>
          <a:xfrm>
            <a:off x="480000" y="1120000"/>
            <a:ext cx="48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rightC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</p:txBody>
      </p:sp>
      <p:sp>
        <p:nvSpPr>
          <p:cNvPr id="21" name="rightB"/>
          <p:cNvSpPr/>
          <p:nvPr/>
        </p:nvSpPr>
        <p:spPr>
          <a:xfrm>
            <a:off x="5400000" y="1120000"/>
            <a:ext cx="62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56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Экономическое обоснование</a:t>
            </a:r>
          </a:p>
        </p:txBody>
      </p:sp>
      <p:sp>
        <p:nvSpPr>
          <p:cNvPr id="3" name="Body"/>
          <p:cNvSpPr/>
          <p:nvPr/>
        </p:nvSpPr>
        <p:spPr>
          <a:xfrm>
            <a:off x="600000" y="1200000"/>
            <a:ext cx="4600000" cy="48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Затраты на разработку: 107 200 руб.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Эксплуатация: 47 100 руб./год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Эффект от внедрения: 664 200 руб./год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Окупаемость: 3–4 месяца</a:t>
            </a:r>
          </a:p>
        </p:txBody>
      </p:sp>
      <p:sp>
        <p:nvSpPr>
          <p:cNvPr id="4" name="Detail"/>
          <p:cNvSpPr/>
          <p:nvPr/>
        </p:nvSpPr>
        <p:spPr>
          <a:xfrm>
            <a:off x="5520000" y="1180000"/>
            <a:ext cx="60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РАЗРАБОТКА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200 ч × 500 руб. = 100 000 руб.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Материалы = 7 720 руб.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АЛЬТЕРНАТИВЫ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Доп. менеджер ≈ 420 000 руб./год</a:t>
            </a:r>
          </a:p>
          <a:p>
            <a:pPr algn="l" spcAft="100"/>
            <a:r>
              <a:rPr sz="1450">
                <a:solidFill>
                  <a:srgbClr val="1E293B"/>
                </a:solidFill>
                <a:latin typeface="Calibri"/>
              </a:rPr>
              <a:t>· Готовый чат-бот ≈ 50–120 тыс./год</a:t>
            </a:r>
          </a:p>
          <a:p>
            <a:pPr spcAft="200"/>
          </a:p>
          <a:p>
            <a:pPr algn="l" spcAft="400"/>
            <a:r>
              <a:rPr sz="1500" b="1">
                <a:solidFill>
                  <a:srgbClr val="01773A"/>
                </a:solidFill>
                <a:latin typeface="Calibri"/>
              </a:rPr>
              <a:t>ВЫВОД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Собственный модуль дешевле</a:t>
            </a:r>
          </a:p>
          <a:p>
            <a:pPr algn="l" spcAft="120"/>
            <a:r>
              <a:rPr sz="1450">
                <a:solidFill>
                  <a:srgbClr val="1E293B"/>
                </a:solidFill>
                <a:latin typeface="Calibri"/>
              </a:rPr>
              <a:t>и использует каталог «Бон Вояж»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hdr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1" name="hdr1"/>
          <p:cNvSpPr/>
          <p:nvPr/>
        </p:nvSpPr>
        <p:spPr>
          <a:xfrm>
            <a:off x="360000" y="1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12" name="hdr2"/>
          <p:cNvSpPr/>
          <p:nvPr/>
        </p:nvSpPr>
        <p:spPr>
          <a:xfrm>
            <a:off x="7400000" y="120000"/>
            <a:ext cx="4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150">
                <a:solidFill>
                  <a:srgbClr val="BBF7D0"/>
                </a:solidFill>
                <a:latin typeface="Calibri"/>
              </a:rPr>
              <a:t>Защита диплома · 09.02.07</a:t>
            </a:r>
          </a:p>
        </p:txBody>
      </p:sp>
      <p:sp>
        <p:nvSpPr>
          <p:cNvPr id="13" name="stripe"/>
          <p:cNvSpPr/>
          <p:nvPr/>
        </p:nvSpPr>
        <p:spPr>
          <a:xfrm>
            <a:off x="0" y="500000"/>
            <a:ext cx="90000" cy="5800000"/>
          </a:xfrm>
          <a:prstGeom prst="rect">
            <a:avLst/>
          </a:prstGeom>
          <a:solidFill>
            <a:srgbClr val="028A46"/>
          </a:solidFill>
          <a:ln>
            <a:noFill/>
          </a:ln>
        </p:spPr>
        <p:txBody>
          <a:bodyPr/>
          <a:lstStyle/>
        </p:txBody>
      </p:sp>
      <p:sp>
        <p:nvSpPr>
          <p:cNvPr id="17" name="ul"/>
          <p:cNvSpPr/>
          <p:nvPr/>
        </p:nvSpPr>
        <p:spPr>
          <a:xfrm>
            <a:off x="560000" y="1000000"/>
            <a:ext cx="2800000" cy="40000"/>
          </a:xfrm>
          <a:prstGeom prst="rect">
            <a:avLst/>
          </a:prstGeom>
          <a:solidFill>
            <a:srgbClr val="01773A"/>
          </a:solidFill>
          <a:ln>
            <a:noFill/>
          </a:ln>
        </p:spPr>
        <p:txBody>
          <a:bodyPr/>
          <a:lstStyle/>
        </p:txBody>
      </p:sp>
      <p:sp>
        <p:nvSpPr>
          <p:cNvPr id="18" name="ftr"/>
          <p:cNvSpPr/>
          <p:nvPr/>
        </p:nvSpPr>
        <p:spPr>
          <a:xfrm>
            <a:off x="0" y="6320000"/>
            <a:ext cx="12192000" cy="53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/>
          <a:lstStyle/>
        </p:txBody>
      </p:sp>
      <p:sp>
        <p:nvSpPr>
          <p:cNvPr id="19" name="ftrL"/>
          <p:cNvSpPr/>
          <p:nvPr/>
        </p:nvSpPr>
        <p:spPr>
          <a:xfrm>
            <a:off x="360000" y="6390000"/>
            <a:ext cx="5000000" cy="26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100">
                <a:solidFill>
                  <a:srgbClr val="BBF7D0"/>
                </a:solidFill>
                <a:latin typeface="Calibri"/>
              </a:rPr>
              <a:t>bon-voyage28.ru · Планета 360</a:t>
            </a:r>
          </a:p>
        </p:txBody>
      </p:sp>
      <p:sp>
        <p:nvSpPr>
          <p:cNvPr id="20" name="ftrR"/>
          <p:cNvSpPr/>
          <p:nvPr/>
        </p:nvSpPr>
        <p:spPr>
          <a:xfrm>
            <a:off x="9200000" y="639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11 / 12</a:t>
            </a:r>
          </a:p>
        </p:txBody>
      </p:sp>
      <p:sp>
        <p:nvSpPr>
          <p:cNvPr id="15" name="card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/>
          <a:lstStyle/>
        </p:txBody>
      </p:sp>
      <p:sp>
        <p:nvSpPr>
          <p:cNvPr id="16" name="cardB"/>
          <p:cNvSpPr/>
          <p:nvPr/>
        </p:nvSpPr>
        <p:spPr>
          <a:xfrm>
            <a:off x="480000" y="1120000"/>
            <a:ext cx="11000000" cy="5000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BF7D0"/>
            </a:solidFill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600000" y="1040000"/>
            <a:ext cx="10500000" cy="38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2400" b="1">
                <a:solidFill>
                  <a:srgbClr val="01773A"/>
                </a:solidFill>
                <a:latin typeface="Calibri Light"/>
              </a:rPr>
              <a:t>Заключение</a:t>
            </a:r>
          </a:p>
        </p:txBody>
      </p:sp>
      <p:sp>
        <p:nvSpPr>
          <p:cNvPr id="3" name="Body"/>
          <p:cNvSpPr/>
          <p:nvPr/>
        </p:nvSpPr>
        <p:spPr>
          <a:xfrm>
            <a:off x="680000" y="1200000"/>
            <a:ext cx="10400000" cy="49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Разработан модуль «AI Тур-Генератор» для ООО «Бон Вояж»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Реализованы диалог на русском, парсер каталога, двухфазный AI-агент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Двухпровайдерная схема GigaChat + DeepSeek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Цель достигнута, все задачи выполнены</a:t>
            </a:r>
          </a:p>
          <a:p>
            <a:pPr marL="280000" indent="-140000" spcAft="700">
              <a:buChar char="●"/>
            </a:pPr>
            <a:r>
              <a:rPr sz="1620">
                <a:solidFill>
                  <a:srgbClr val="1E293B"/>
                </a:solidFill>
                <a:latin typeface="Calibri"/>
              </a:rPr>
              <a:t>Модуль готов к внедрению на bon-voyage28.ru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rotWithShape="1">
          <a:gsLst>
            <a:gs pos="0">
              <a:srgbClr val="01773A"/>
            </a:gs>
            <a:gs pos="55000">
              <a:srgbClr val="028A46"/>
            </a:gs>
            <a:gs pos="100000">
              <a:srgbClr val="0D948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0" name="c1"/>
          <p:cNvSpPr/>
          <p:nvPr/>
        </p:nvSpPr>
        <p:spPr>
          <a:xfrm>
            <a:off x="9200000" y="-200000"/>
            <a:ext cx="3200000" cy="32000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1" name="c2"/>
          <p:cNvSpPr/>
          <p:nvPr/>
        </p:nvSpPr>
        <p:spPr>
          <a:xfrm>
            <a:off x="-400000" y="4600000"/>
            <a:ext cx="2200000" cy="2200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2" name="badge"/>
          <p:cNvSpPr/>
          <p:nvPr/>
        </p:nvSpPr>
        <p:spPr>
          <a:xfrm>
            <a:off x="2600000" y="300000"/>
            <a:ext cx="7000000" cy="400000"/>
          </a:xfrm>
          <a:prstGeom prst="roundRect">
            <a:avLst>
              <a:gd name="adj" fmla="val 12000"/>
            </a:avLst>
          </a:prstGeom>
          <a:solidFill>
            <a:srgbClr val="FFFFFF">
              <a:alpha val="18000"/>
            </a:srgbClr>
          </a:solidFill>
          <a:ln>
            <a:noFill/>
          </a:ln>
        </p:spPr>
        <p:txBody>
          <a:bodyPr/>
          <a:lstStyle/>
        </p:txBody>
      </p:sp>
      <p:sp>
        <p:nvSpPr>
          <p:cNvPr id="13" name="badgeT"/>
          <p:cNvSpPr/>
          <p:nvPr/>
        </p:nvSpPr>
        <p:spPr>
          <a:xfrm>
            <a:off x="2600000" y="330000"/>
            <a:ext cx="7000000" cy="34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Дипломный проект  ·  09.02.07  ·  Бон Вояж</a:t>
            </a:r>
          </a:p>
        </p:txBody>
      </p:sp>
      <p:sp>
        <p:nvSpPr>
          <p:cNvPr id="14" name="logo"/>
          <p:cNvSpPr/>
          <p:nvPr/>
        </p:nvSpPr>
        <p:spPr>
          <a:xfrm>
            <a:off x="360000" y="150000"/>
            <a:ext cx="4500000" cy="300000"/>
          </a:xfrm>
          <a:prstGeom prst="rect">
            <a:avLst/>
          </a:prstGeom>
          <a:noFill/>
          <a:ln>
            <a:noFill/>
          </a:ln>
        </p:spPr>
        <p:txBody>
          <a:bodyPr anchor="t" wrap="square" lIns="91440" tIns="45720" rIns="91440" bIns="4572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✈  AI Тур-Генератор</a:t>
            </a:r>
          </a:p>
        </p:txBody>
      </p:sp>
      <p:sp>
        <p:nvSpPr>
          <p:cNvPr id="2" name="Title"/>
          <p:cNvSpPr/>
          <p:nvPr/>
        </p:nvSpPr>
        <p:spPr>
          <a:xfrm>
            <a:off x="700000" y="1850000"/>
            <a:ext cx="10800000" cy="22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 Light"/>
              </a:rPr>
              <a:t>Спасибо за внимание!</a:t>
            </a:r>
          </a:p>
        </p:txBody>
      </p:sp>
      <p:sp>
        <p:nvSpPr>
          <p:cNvPr id="3" name="Body"/>
          <p:cNvSpPr/>
          <p:nvPr/>
        </p:nvSpPr>
        <p:spPr>
          <a:xfrm>
            <a:off x="1200000" y="4200000"/>
            <a:ext cx="9800000" cy="1900000"/>
          </a:xfrm>
          <a:prstGeom prst="rect">
            <a:avLst/>
          </a:prstGeom>
          <a:noFill/>
          <a:ln>
            <a:noFill/>
          </a:ln>
        </p:spPr>
        <p:txBody>
          <a:bodyPr anchor="ctr" wrap="square" lIns="91440" tIns="45720" rIns="91440" bIns="45720"/>
          <a:lstStyle/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Готов ответить на ваши вопросы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Демонстрация: http://localhost:8000</a:t>
            </a:r>
          </a:p>
          <a:p>
            <a:pPr marL="280000" indent="-140000" spcAft="700">
              <a:buChar char="●"/>
            </a:pPr>
            <a:r>
              <a:rPr sz="1700">
                <a:solidFill>
                  <a:srgbClr val="FFFFFF"/>
                </a:solidFill>
                <a:latin typeface="Calibri"/>
              </a:rPr>
              <a:t>ООО «Бон Вояж»: +7 (4162) 317-771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nVoyage">
  <a:themeElements>
    <a:clrScheme name="BV">
      <a:dk1>
        <a:sysClr val="windowText" lastClr="000000"/>
      </a:dk1>
      <a:lt1>
        <a:sysClr val="window" lastClr="FFFFFF"/>
      </a:lt1>
      <a:dk2>
        <a:srgbClr val="1E293B"/>
      </a:dk2>
      <a:lt2>
        <a:srgbClr val="F0FDF4"/>
      </a:lt2>
      <a:accent1>
        <a:srgbClr val="01773A"/>
      </a:accent1>
      <a:accent2>
        <a:srgbClr val="0D9488"/>
      </a:accent2>
      <a:accent3>
        <a:srgbClr val="028A46"/>
      </a:accent3>
      <a:accent4>
        <a:srgbClr val="64748B"/>
      </a:accent4>
      <a:accent5>
        <a:srgbClr val="BBF7D0"/>
      </a:accent5>
      <a:accent6>
        <a:srgbClr val="1E293B"/>
      </a:accent6>
      <a:hlink>
        <a:srgbClr val="01773A"/>
      </a:hlink>
      <a:folHlink>
        <a:srgbClr val="64748B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